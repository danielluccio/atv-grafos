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</p:sldMasterIdLst>
  <p:notesMasterIdLst>
    <p:notesMasterId r:id="rId7"/>
  </p:notesMasterIdLst>
  <p:sldIdLst>
    <p:sldId id="256" r:id="rId2"/>
    <p:sldId id="257" r:id="rId3"/>
    <p:sldId id="258" r:id="rId4"/>
    <p:sldId id="261" r:id="rId5"/>
    <p:sldId id="259" r:id="rId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76B26A-B071-4F47-BC6A-6AE291C5C9CB}" v="6" dt="2026-09-09T19:05:40.830"/>
    <p1510:client id="{E0BBAD3F-A747-431D-870B-2BE761DC8A6D}" v="58" dt="2026-09-09T19:48:18.2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- Claro" type="blank">
  <p:cSld name="BLANK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 - Claro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14" name="Google Shape;14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Font typeface="Albert Sans"/>
              <a:buNone/>
              <a:defRPr sz="43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lbert Sans"/>
              <a:buNone/>
              <a:defRPr sz="24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- Claro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487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745875" y="230200"/>
            <a:ext cx="7818000" cy="139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702350" y="1688325"/>
            <a:ext cx="7766400" cy="24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3 - Claro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lbert Sans"/>
              <a:buNone/>
              <a:defRPr b="1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body" idx="1"/>
          </p:nvPr>
        </p:nvSpPr>
        <p:spPr>
          <a:xfrm>
            <a:off x="311700" y="1269625"/>
            <a:ext cx="8520600" cy="34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2 - Claro">
  <p:cSld name="BLANK_2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colunas - Claro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489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686600"/>
            <a:ext cx="3924300" cy="37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lbert Sans"/>
              <a:buNone/>
              <a:defRPr b="1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889400" y="756375"/>
            <a:ext cx="39243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ês colunas - Claro">
  <p:cSld name="TITLE_ONLY_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8"/>
          <p:cNvSpPr txBox="1">
            <a:spLocks noGrp="1"/>
          </p:cNvSpPr>
          <p:nvPr>
            <p:ph type="body" idx="1"/>
          </p:nvPr>
        </p:nvSpPr>
        <p:spPr>
          <a:xfrm>
            <a:off x="229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body" idx="2"/>
          </p:nvPr>
        </p:nvSpPr>
        <p:spPr>
          <a:xfrm>
            <a:off x="3277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body" idx="3"/>
          </p:nvPr>
        </p:nvSpPr>
        <p:spPr>
          <a:xfrm>
            <a:off x="6325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vre - Claro">
  <p:cSld name="TITLE_ONLY_1_1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>
            <a:spLocks noGrp="1"/>
          </p:cNvSpPr>
          <p:nvPr>
            <p:ph type="body" idx="1"/>
          </p:nvPr>
        </p:nvSpPr>
        <p:spPr>
          <a:xfrm>
            <a:off x="540150" y="538950"/>
            <a:ext cx="8063700" cy="40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- Escuro">
  <p:cSld name="BLANK_1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41" name="Google Shape;41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4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subtítulo - Escuro">
  <p:cSld name="ONE_COLUMN_TEX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pic>
        <p:nvPicPr>
          <p:cNvPr id="44" name="Google Shape;44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8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1"/>
          <p:cNvSpPr txBox="1">
            <a:spLocks noGrp="1"/>
          </p:cNvSpPr>
          <p:nvPr>
            <p:ph type="ctrTitle" idx="2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Albert Sans"/>
              <a:buNone/>
              <a:defRPr sz="4300"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lbert Sans"/>
              <a:buNone/>
              <a:defRPr sz="24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- Escuro">
  <p:cSld name="MAIN_POIN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title"/>
          </p:nvPr>
        </p:nvSpPr>
        <p:spPr>
          <a:xfrm>
            <a:off x="745875" y="230200"/>
            <a:ext cx="7818000" cy="13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body" idx="1"/>
          </p:nvPr>
        </p:nvSpPr>
        <p:spPr>
          <a:xfrm>
            <a:off x="702350" y="1688325"/>
            <a:ext cx="7766400" cy="24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3 - Escuro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lbert Sans"/>
              <a:buNone/>
              <a:defRPr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1"/>
          </p:nvPr>
        </p:nvSpPr>
        <p:spPr>
          <a:xfrm>
            <a:off x="311700" y="1269625"/>
            <a:ext cx="8520600" cy="34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colunas - Escuro">
  <p:cSld name="BIG_NUMBER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11700" y="1432500"/>
            <a:ext cx="3924300" cy="22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lbert Sans"/>
              <a:buNone/>
              <a:defRPr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body" idx="1"/>
          </p:nvPr>
        </p:nvSpPr>
        <p:spPr>
          <a:xfrm>
            <a:off x="4889400" y="756375"/>
            <a:ext cx="39243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ês colunas - Escuro">
  <p:cSld name="BIG_NUMBER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body" idx="1"/>
          </p:nvPr>
        </p:nvSpPr>
        <p:spPr>
          <a:xfrm>
            <a:off x="229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body" idx="2"/>
          </p:nvPr>
        </p:nvSpPr>
        <p:spPr>
          <a:xfrm>
            <a:off x="3277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body" idx="3"/>
          </p:nvPr>
        </p:nvSpPr>
        <p:spPr>
          <a:xfrm>
            <a:off x="6325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vre - Escuro">
  <p:cSld name="BIG_NUMBER_1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540150" y="538950"/>
            <a:ext cx="8063700" cy="40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2 - Escuro">
  <p:cSld name="BLANK_1_1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 - Claro" type="tx">
  <p:cSld name="TITLE_AND_BOD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8"/>
          <p:cNvSpPr txBox="1">
            <a:spLocks noGrp="1"/>
          </p:cNvSpPr>
          <p:nvPr>
            <p:ph type="title"/>
          </p:nvPr>
        </p:nvSpPr>
        <p:spPr>
          <a:xfrm>
            <a:off x="699850" y="709050"/>
            <a:ext cx="7698300" cy="1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Font typeface="Albert Sans"/>
              <a:buNone/>
              <a:defRPr sz="3300" b="1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9pPr>
          </a:lstStyle>
          <a:p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ubTitle" idx="1"/>
          </p:nvPr>
        </p:nvSpPr>
        <p:spPr>
          <a:xfrm>
            <a:off x="699850" y="3272450"/>
            <a:ext cx="7698300" cy="8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 - Escuro">
  <p:cSld name="SECTION_TITLE_AND_DESCRIPTION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699850" y="709050"/>
            <a:ext cx="7698300" cy="1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lbert Sans"/>
              <a:buNone/>
              <a:defRPr sz="3300"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subTitle" idx="1"/>
          </p:nvPr>
        </p:nvSpPr>
        <p:spPr>
          <a:xfrm>
            <a:off x="699850" y="3272450"/>
            <a:ext cx="7698300" cy="8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</a:pPr>
            <a:r>
              <a:rPr lang="pt-BR" b="1"/>
              <a:t>Título</a:t>
            </a:r>
            <a:endParaRPr b="1"/>
          </a:p>
        </p:txBody>
      </p:sp>
      <p:sp>
        <p:nvSpPr>
          <p:cNvPr id="87" name="Google Shape;87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7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pt-BR" sz="2000"/>
              <a:t>Subtítulo</a:t>
            </a:r>
            <a:endParaRPr sz="20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sz="2000"/>
          </a:p>
          <a:p>
            <a:pPr marL="0" marR="146269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pt-BR" sz="1400" b="1" i="1"/>
              <a:t>Alunos: Nomes - Matrícula</a:t>
            </a:r>
            <a:endParaRPr sz="1400" b="1" i="1"/>
          </a:p>
          <a:p>
            <a:pPr marL="0" marR="146269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pt-BR" sz="1400" i="1"/>
              <a:t>Orientador: Prof. Me. Ricardo Carubbi</a:t>
            </a:r>
            <a:endParaRPr sz="1400" i="1"/>
          </a:p>
          <a:p>
            <a:pPr marL="0" marR="146269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pt-BR" sz="1400" i="1"/>
              <a:t>Disciplina: Métodos Quantitativos</a:t>
            </a:r>
            <a:endParaRPr sz="1400" i="1"/>
          </a:p>
          <a:p>
            <a:pPr marL="0" marR="146268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pt-BR" sz="1400" i="1"/>
              <a:t>Centro de Ciências Tecnológicas - CCT</a:t>
            </a:r>
            <a:endParaRPr sz="1400" i="1"/>
          </a:p>
          <a:p>
            <a:pPr marL="0" marR="146269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pt-BR" sz="1400" i="1"/>
              <a:t>Universidade de Fortaleza - UNIFOR</a:t>
            </a:r>
            <a:endParaRPr sz="1400" i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 txBox="1">
            <a:spLocks noGrp="1"/>
          </p:cNvSpPr>
          <p:nvPr>
            <p:ph type="title"/>
          </p:nvPr>
        </p:nvSpPr>
        <p:spPr>
          <a:xfrm>
            <a:off x="745875" y="230200"/>
            <a:ext cx="7818000" cy="120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85000"/>
              </a:lnSpc>
              <a:buSzPts val="3150"/>
            </a:pPr>
            <a:r>
              <a:rPr lang="pt-BR" sz="2850" b="1" dirty="0"/>
              <a:t>Problema B — Labirinto</a:t>
            </a:r>
            <a:endParaRPr sz="2850" b="1" dirty="0" err="1"/>
          </a:p>
        </p:txBody>
      </p:sp>
      <p:sp>
        <p:nvSpPr>
          <p:cNvPr id="93" name="Google Shape;93;p22"/>
          <p:cNvSpPr txBox="1">
            <a:spLocks noGrp="1"/>
          </p:cNvSpPr>
          <p:nvPr>
            <p:ph type="body" idx="1"/>
          </p:nvPr>
        </p:nvSpPr>
        <p:spPr>
          <a:xfrm>
            <a:off x="702350" y="1688325"/>
            <a:ext cx="7766400" cy="27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600" b="1" dirty="0"/>
              <a:t>Enunciado</a:t>
            </a:r>
            <a:endParaRPr sz="1600" b="1" dirty="0"/>
          </a:p>
          <a:p>
            <a:pPr marL="457200" lvl="0" indent="-342900" algn="l" rtl="0">
              <a:lnSpc>
                <a:spcPct val="105000"/>
              </a:lnSpc>
              <a:spcBef>
                <a:spcPts val="200"/>
              </a:spcBef>
              <a:spcAft>
                <a:spcPts val="400"/>
              </a:spcAft>
              <a:buSzPts val="1400"/>
              <a:buChar char="●"/>
            </a:pPr>
            <a:r>
              <a:rPr lang="pt-BR" sz="1400" dirty="0"/>
              <a:t>Labirinto em matriz: encontrar um caminho de A até B, andando só para cima, baixo, esquerda ou direita, sem cruzar paredes (#)</a:t>
            </a:r>
            <a:endParaRPr sz="1400" dirty="0"/>
          </a:p>
          <a:p>
            <a:pPr marL="0" lvl="0" indent="0" algn="l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pt-BR" sz="1600" b="1" dirty="0"/>
              <a:t>Entrada</a:t>
            </a:r>
            <a:endParaRPr sz="1600" b="1" dirty="0"/>
          </a:p>
          <a:p>
            <a:pPr marL="457200" lvl="0" indent="-342900" algn="l" rtl="0">
              <a:lnSpc>
                <a:spcPct val="105000"/>
              </a:lnSpc>
              <a:spcBef>
                <a:spcPts val="200"/>
              </a:spcBef>
              <a:spcAft>
                <a:spcPts val="400"/>
              </a:spcAft>
              <a:buSzPts val="1400"/>
              <a:buChar char="●"/>
            </a:pPr>
            <a:r>
              <a:rPr lang="pt-BR" sz="1400" dirty="0"/>
              <a:t>n, m (linhas, colunas) e a matriz: . livre, # parede, A início, B fim</a:t>
            </a:r>
            <a:endParaRPr sz="1400" dirty="0"/>
          </a:p>
          <a:p>
            <a:pPr marL="0" lvl="0" indent="0" algn="l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pt-BR" sz="1600" b="1" dirty="0"/>
              <a:t>Saída</a:t>
            </a:r>
            <a:endParaRPr sz="1600" b="1" dirty="0"/>
          </a:p>
          <a:p>
            <a:pPr marL="457200" lvl="0" indent="-342900" algn="l" rtl="0">
              <a:lnSpc>
                <a:spcPct val="105000"/>
              </a:lnSpc>
              <a:spcBef>
                <a:spcPts val="200"/>
              </a:spcBef>
              <a:spcAft>
                <a:spcPts val="400"/>
              </a:spcAft>
              <a:buSzPts val="1400"/>
              <a:buChar char="●"/>
            </a:pPr>
            <a:r>
              <a:rPr lang="pt-BR" sz="1400" dirty="0"/>
              <a:t>YES + comprimento e sequência de movimentos (U/D/L/R), ou NO se não houver caminho</a:t>
            </a:r>
            <a:endParaRPr sz="1400" dirty="0"/>
          </a:p>
          <a:p>
            <a:pPr marL="0" lvl="0" indent="0" algn="l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pt-BR" sz="1600" b="1" dirty="0"/>
              <a:t>Restrições</a:t>
            </a:r>
            <a:endParaRPr sz="1600" b="1" dirty="0"/>
          </a:p>
          <a:p>
            <a:pPr>
              <a:lnSpc>
                <a:spcPct val="105000"/>
              </a:lnSpc>
              <a:spcBef>
                <a:spcPts val="200"/>
              </a:spcBef>
              <a:buSzPts val="1400"/>
            </a:pPr>
            <a:r>
              <a:rPr lang="pt-BR" sz="1400" dirty="0"/>
              <a:t>1 ≤ n, m ≤ 1000 — matriz com até ~1 milhão de células, exige algoritmo linear</a:t>
            </a:r>
            <a:endParaRPr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 txBox="1">
            <a:spLocks noGrp="1"/>
          </p:cNvSpPr>
          <p:nvPr>
            <p:ph type="title"/>
          </p:nvPr>
        </p:nvSpPr>
        <p:spPr>
          <a:xfrm>
            <a:off x="745875" y="230200"/>
            <a:ext cx="7818000" cy="120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150"/>
              <a:buNone/>
            </a:pPr>
            <a:r>
              <a:rPr lang="pt-BR" sz="2850" b="1"/>
              <a:t>Modelagem</a:t>
            </a:r>
            <a:endParaRPr sz="2850" b="1"/>
          </a:p>
        </p:txBody>
      </p:sp>
      <p:sp>
        <p:nvSpPr>
          <p:cNvPr id="93" name="Google Shape;93;p22"/>
          <p:cNvSpPr txBox="1">
            <a:spLocks noGrp="1"/>
          </p:cNvSpPr>
          <p:nvPr>
            <p:ph type="body" idx="1"/>
          </p:nvPr>
        </p:nvSpPr>
        <p:spPr>
          <a:xfrm>
            <a:off x="702350" y="1688325"/>
            <a:ext cx="7766400" cy="27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600" b="1" dirty="0"/>
              <a:t>Vértices e arestas</a:t>
            </a:r>
            <a:endParaRPr sz="1600" b="1" dirty="0"/>
          </a:p>
          <a:p>
            <a:pPr marL="457200" lvl="0" indent="-342900" algn="l" rtl="0">
              <a:lnSpc>
                <a:spcPct val="105000"/>
              </a:lnSpc>
              <a:spcBef>
                <a:spcPts val="200"/>
              </a:spcBef>
              <a:spcAft>
                <a:spcPts val="400"/>
              </a:spcAft>
              <a:buSzPts val="1400"/>
              <a:buChar char="●"/>
            </a:pPr>
            <a:r>
              <a:rPr lang="pt-BR" sz="1400" dirty="0"/>
              <a:t>Vértices: cada célula livre da grade (., A ou B)</a:t>
            </a:r>
            <a:endParaRPr sz="1400" dirty="0"/>
          </a:p>
          <a:p>
            <a:pPr marL="457200" lvl="0" indent="-342900" algn="l" rtl="0">
              <a:lnSpc>
                <a:spcPct val="105000"/>
              </a:lnSpc>
              <a:spcBef>
                <a:spcPts val="200"/>
              </a:spcBef>
              <a:spcAft>
                <a:spcPts val="400"/>
              </a:spcAft>
              <a:buSzPts val="1400"/>
              <a:buChar char="●"/>
            </a:pPr>
            <a:r>
              <a:rPr lang="pt-BR" sz="1400" dirty="0"/>
              <a:t>Arestas: ligam células adjacentes (cima/baixo/</a:t>
            </a:r>
            <a:r>
              <a:rPr lang="pt-BR" sz="1400" dirty="0" err="1"/>
              <a:t>esq</a:t>
            </a:r>
            <a:r>
              <a:rPr lang="pt-BR" sz="1400" dirty="0"/>
              <a:t>/</a:t>
            </a:r>
            <a:r>
              <a:rPr lang="pt-BR" sz="1400" dirty="0" err="1"/>
              <a:t>dir</a:t>
            </a:r>
            <a:r>
              <a:rPr lang="pt-BR" sz="1400" dirty="0"/>
              <a:t>) quando ambas são livres</a:t>
            </a:r>
            <a:endParaRPr sz="1400" dirty="0"/>
          </a:p>
          <a:p>
            <a:pPr marL="0" lvl="0" indent="0" algn="l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pt-BR" sz="1600" b="1" dirty="0"/>
              <a:t>Tipo de grafo</a:t>
            </a:r>
            <a:endParaRPr sz="1600" b="1" dirty="0"/>
          </a:p>
          <a:p>
            <a:pPr marL="457200" lvl="0" indent="-342900" algn="l" rtl="0">
              <a:lnSpc>
                <a:spcPct val="105000"/>
              </a:lnSpc>
              <a:spcBef>
                <a:spcPts val="200"/>
              </a:spcBef>
              <a:spcAft>
                <a:spcPts val="400"/>
              </a:spcAft>
              <a:buSzPts val="1400"/>
              <a:buChar char="●"/>
            </a:pPr>
            <a:r>
              <a:rPr lang="pt-BR" sz="1400" dirty="0"/>
              <a:t>Não direcionado, não ponderado e implícito</a:t>
            </a:r>
            <a:endParaRPr sz="1400" dirty="0"/>
          </a:p>
          <a:p>
            <a:pPr marL="0" lvl="0" indent="0" algn="l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pt-BR" sz="1600" b="1" dirty="0"/>
              <a:t>Instância pequena</a:t>
            </a:r>
            <a:endParaRPr sz="1600" b="1" dirty="0"/>
          </a:p>
          <a:p>
            <a:pPr marL="457200" lvl="0" indent="-342900" algn="l" rtl="0">
              <a:lnSpc>
                <a:spcPct val="105000"/>
              </a:lnSpc>
              <a:spcBef>
                <a:spcPts val="200"/>
              </a:spcBef>
              <a:spcAft>
                <a:spcPts val="400"/>
              </a:spcAft>
              <a:buSzPts val="1400"/>
              <a:buChar char="●"/>
            </a:pPr>
            <a:r>
              <a:rPr lang="pt-BR" sz="1400" dirty="0"/>
              <a:t>Matriz 5x5 com paredes; resultado esperado: YES, caminho de comprimento 3</a:t>
            </a:r>
            <a:endParaRPr sz="1400" dirty="0"/>
          </a:p>
          <a:p>
            <a:pPr marL="0" lvl="0" indent="0" algn="l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pt-BR" sz="1600" b="1" dirty="0"/>
              <a:t>Hipótese inicial</a:t>
            </a:r>
            <a:endParaRPr sz="1600" b="1" dirty="0"/>
          </a:p>
          <a:p>
            <a:pPr marL="457200" lvl="0" indent="-34290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SzPts val="1400"/>
              <a:buChar char="●"/>
            </a:pPr>
            <a:r>
              <a:rPr lang="pt-BR" sz="1400" dirty="0"/>
              <a:t>BFS a partir de A, guardando predecessores para reconstruir o caminho até B</a:t>
            </a:r>
            <a:endParaRPr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Unifor">
  <a:themeElements>
    <a:clrScheme name="Simple Light">
      <a:dk1>
        <a:srgbClr val="004AF7"/>
      </a:dk1>
      <a:lt1>
        <a:srgbClr val="E4F2FE"/>
      </a:lt1>
      <a:dk2>
        <a:srgbClr val="132190"/>
      </a:dk2>
      <a:lt2>
        <a:srgbClr val="87B7FE"/>
      </a:lt2>
      <a:accent1>
        <a:srgbClr val="004AF7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4AF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Apresentação na tela (16:9)</PresentationFormat>
  <Slides>5</Slides>
  <Notes>4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6" baseType="lpstr">
      <vt:lpstr>Unifor</vt:lpstr>
      <vt:lpstr>Apresentação do PowerPoint</vt:lpstr>
      <vt:lpstr>Título</vt:lpstr>
      <vt:lpstr>Problema B — Labirinto</vt:lpstr>
      <vt:lpstr>Modelagem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13</cp:revision>
  <dcterms:modified xsi:type="dcterms:W3CDTF">2026-09-09T22:18:17Z</dcterms:modified>
</cp:coreProperties>
</file>