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  <p:sldId id="264" r:id="rId9"/>
    <p:sldId id="259" r:id="rId10"/>
  </p:sldIdLst>
  <p:sldSz cx="9144000" cy="5143500" type="screen16x9"/>
  <p:notesSz cx="6858000" cy="9144000"/>
  <p:embeddedFontLst>
    <p:embeddedFont>
      <p:font typeface="Albert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6B26A-B071-4F47-BC6A-6AE291C5C9CB}" v="6" dt="2026-09-09T19:05:40.830"/>
    <p1510:client id="{E0BBAD3F-A747-431D-870B-2BE761DC8A6D}" v="58" dt="2026-09-09T19:48:18.2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5079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1078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85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81516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Claro" type="blank">
  <p:cSld name="BLANK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Claro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Claro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Claro">
  <p:cSld name="BLANK_2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Claro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Claro">
  <p:cSld name="TITLE_ONLY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Claro">
  <p:cSld name="TITLE_ONLY_1_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- Escuro">
  <p:cSld name="BLANK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subtítulo - Escuro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ctrTitle" idx="2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sz="4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sz="43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- Escuro">
  <p:cSld name="MAIN_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3 - Escuro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colunas - Escuro">
  <p:cSld name="BIG_NUMB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ês colunas - Escuro">
  <p:cSld name="BIG_NUMBER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2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3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0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vre - Escuro">
  <p:cSld name="BIG_NUMBER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2 - Escuro">
  <p:cSld name="BLANK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Claro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sz="33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- Escuro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sz="3300"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ubTitle" idx="1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</a:pPr>
            <a:r>
              <a:rPr lang="pt-BR" b="1" dirty="0"/>
              <a:t>Título</a:t>
            </a:r>
            <a:endParaRPr b="1" dirty="0"/>
          </a:p>
        </p:txBody>
      </p:sp>
      <p:sp>
        <p:nvSpPr>
          <p:cNvPr id="87" name="Google Shape;8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2000" dirty="0"/>
              <a:t>Subtítulo</a:t>
            </a:r>
            <a:endParaRPr sz="200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sz="2000" dirty="0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b="1" i="1" dirty="0"/>
              <a:t>Alunos: Guilherme – 2116188</a:t>
            </a:r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b="1" i="1" dirty="0"/>
              <a:t>Juan – 2417213</a:t>
            </a:r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b="1" i="1" dirty="0"/>
              <a:t>Daniel - 2310285</a:t>
            </a:r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Orientador: Prof. Me. Ricardo </a:t>
            </a:r>
            <a:r>
              <a:rPr lang="pt-BR" sz="1400" i="1" dirty="0" err="1"/>
              <a:t>Carubbi</a:t>
            </a:r>
            <a:endParaRPr sz="1400" i="1" dirty="0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Disciplina: Métodos Quantitativos</a:t>
            </a:r>
            <a:endParaRPr sz="1400" i="1" dirty="0"/>
          </a:p>
          <a:p>
            <a:pPr marL="0" marR="146268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Centro de Ciências Tecnológicas - CCT</a:t>
            </a:r>
            <a:endParaRPr sz="1400" i="1" dirty="0"/>
          </a:p>
          <a:p>
            <a:pPr marL="0" marR="146269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pt-BR" sz="1400" i="1" dirty="0"/>
              <a:t>Universidade de Fortaleza - UNIFOR</a:t>
            </a:r>
            <a:endParaRPr sz="14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85000"/>
              </a:lnSpc>
              <a:buSzPts val="3150"/>
            </a:pPr>
            <a:r>
              <a:rPr lang="pt-BR" sz="2850" b="1" dirty="0"/>
              <a:t>Problema B — Labirinto</a:t>
            </a:r>
            <a:endParaRPr sz="2850" b="1" dirty="0" err="1"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 b="1" dirty="0"/>
              <a:t>Enunciado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Labirinto em matriz: encontrar um caminho de A até B, andando só para cima, baixo, esquerda ou direita, sem cruzar paredes (#)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Entrada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n, m (linhas, colunas) e a matriz: . livre, # parede, A início, B fim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Saída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YES + comprimento e sequência de movimentos (U/D/L/R), ou NO se não houver caminho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Restrições</a:t>
            </a:r>
            <a:endParaRPr sz="1600" b="1" dirty="0"/>
          </a:p>
          <a:p>
            <a:pPr>
              <a:lnSpc>
                <a:spcPct val="105000"/>
              </a:lnSpc>
              <a:spcBef>
                <a:spcPts val="200"/>
              </a:spcBef>
              <a:buSzPts val="1400"/>
            </a:pPr>
            <a:r>
              <a:rPr lang="pt-BR" sz="1400" dirty="0"/>
              <a:t>1 ≤ n, m ≤ 1000 — matriz com até ~1 milhão de células, exige algoritmo linear</a:t>
            </a:r>
            <a:endParaRPr sz="1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8019E6-5EF5-2597-CB6B-027AD7A09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592" y="230200"/>
            <a:ext cx="1790950" cy="17623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5" y="230200"/>
            <a:ext cx="7818000" cy="12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850" b="1"/>
              <a:t>Modelagem</a:t>
            </a:r>
            <a:endParaRPr sz="2850" b="1"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1"/>
          </p:nvPr>
        </p:nvSpPr>
        <p:spPr>
          <a:xfrm>
            <a:off x="702350" y="1688325"/>
            <a:ext cx="7766400" cy="2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600" b="1" dirty="0"/>
              <a:t>Vértices e arestas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Vértices: cada célula livre da grade (., A ou B)</a:t>
            </a:r>
            <a:endParaRPr sz="1400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Arestas: ligam células adjacentes (cima/baixo/</a:t>
            </a:r>
            <a:r>
              <a:rPr lang="pt-BR" sz="1400" dirty="0" err="1"/>
              <a:t>esq</a:t>
            </a:r>
            <a:r>
              <a:rPr lang="pt-BR" sz="1400" dirty="0"/>
              <a:t>/</a:t>
            </a:r>
            <a:r>
              <a:rPr lang="pt-BR" sz="1400" dirty="0" err="1"/>
              <a:t>dir</a:t>
            </a:r>
            <a:r>
              <a:rPr lang="pt-BR" sz="1400" dirty="0"/>
              <a:t>) quando ambas são livres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Tipo de grafo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Não direcionado, não ponderado e implícito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Instância pequena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400"/>
              </a:spcAft>
              <a:buSzPts val="1400"/>
              <a:buChar char="●"/>
            </a:pPr>
            <a:r>
              <a:rPr lang="pt-BR" sz="1400" dirty="0"/>
              <a:t>Matriz 5x5 com paredes; resultado esperado: YES, caminho de comprimento 3</a:t>
            </a:r>
            <a:endParaRPr sz="1400" dirty="0"/>
          </a:p>
          <a:p>
            <a:pPr marL="0" lvl="0" indent="0" algn="l" rtl="0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600" b="1" dirty="0"/>
              <a:t>Hipótese inicial</a:t>
            </a:r>
            <a:endParaRPr sz="1600" b="1" dirty="0"/>
          </a:p>
          <a:p>
            <a:pPr marL="457200" lvl="0" indent="-342900" algn="l" rtl="0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  <a:buSzPts val="1400"/>
              <a:buChar char="●"/>
            </a:pPr>
            <a:r>
              <a:rPr lang="pt-BR" sz="1400" dirty="0"/>
              <a:t>BFS a partir de A, guardando predecessores para reconstruir o caminho até B</a:t>
            </a:r>
            <a:endParaRPr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4029326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000" b="1" dirty="0"/>
              <a:t>DFS: Busca em Profundidade</a:t>
            </a:r>
            <a:endParaRPr sz="19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endParaRPr sz="24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48E505-DA39-B318-CD6D-32C7D23B8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444" y="1313038"/>
            <a:ext cx="8523111" cy="267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3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3069769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000" b="1" dirty="0"/>
              <a:t>BFS: Busca em Largura</a:t>
            </a:r>
            <a:endParaRPr sz="1900" dirty="0">
              <a:solidFill>
                <a:schemeClr val="dk2"/>
              </a:solidFill>
            </a:endParaRPr>
          </a:p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endParaRPr sz="24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33B2D8E-2158-68A8-3A60-1C61EF0EF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17" y="1034222"/>
            <a:ext cx="8071556" cy="354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209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4277682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450" dirty="0"/>
              <a:t>DFS vs. BFS no Labirinto</a:t>
            </a:r>
            <a:endParaRPr sz="24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FFF65B2-A1EE-7026-49F9-8A9AEA182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173" y="739378"/>
            <a:ext cx="5793653" cy="417392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A0557725-CCF3-0388-59DB-484FF7B533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739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>
            <a:spLocks noGrp="1"/>
          </p:cNvSpPr>
          <p:nvPr>
            <p:ph type="title"/>
          </p:nvPr>
        </p:nvSpPr>
        <p:spPr>
          <a:xfrm>
            <a:off x="745874" y="230200"/>
            <a:ext cx="4277682" cy="39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50"/>
              <a:buNone/>
            </a:pPr>
            <a:r>
              <a:rPr lang="pt-BR" sz="2450" dirty="0"/>
              <a:t>Validação</a:t>
            </a:r>
            <a:endParaRPr sz="2450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0557725-CCF3-0388-59DB-484FF7B533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D81C47F-245E-C9E4-0776-0BB10F3B9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4" y="623326"/>
            <a:ext cx="6492361" cy="428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0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</Words>
  <Application>Microsoft Office PowerPoint</Application>
  <PresentationFormat>Apresentação na tela (16:9)</PresentationFormat>
  <Paragraphs>33</Paragraphs>
  <Slides>9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Albert Sans</vt:lpstr>
      <vt:lpstr>Unifor</vt:lpstr>
      <vt:lpstr>Apresentação do PowerPoint</vt:lpstr>
      <vt:lpstr>Título</vt:lpstr>
      <vt:lpstr>Problema B — Labirinto</vt:lpstr>
      <vt:lpstr>Modelagem</vt:lpstr>
      <vt:lpstr>DFS: Busca em Profundidade </vt:lpstr>
      <vt:lpstr>BFS: Busca em Largura </vt:lpstr>
      <vt:lpstr>DFS vs. BFS no Labirinto</vt:lpstr>
      <vt:lpstr>Validação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Guilherme Machado</cp:lastModifiedBy>
  <cp:revision>15</cp:revision>
  <dcterms:modified xsi:type="dcterms:W3CDTF">2026-09-10T00:13:54Z</dcterms:modified>
</cp:coreProperties>
</file>